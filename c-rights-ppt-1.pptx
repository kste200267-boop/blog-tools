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Malgun Gothic"/>
              </a:rPr>
              <a:t>통합사회 2 · 6단원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Malgun Gothic"/>
              </a:rPr>
              <a:t>⚖️ 인권 보장과 헌법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FEF3C7"/>
                </a:solidFill>
                <a:latin typeface="Malgun Gothic"/>
              </a:rPr>
              <a:t>사람답게 살 권리, 어떻게 지킬 것인가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EF3C7"/>
                </a:solidFill>
                <a:latin typeface="Malgun Gothic"/>
              </a:rPr>
              <a:t>[10통사2-01] 인권 의미와 발전, 헌법 기본권, 인권 침해와 구제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도입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🤔 우리는 어떤 권리를 가지고 있을까?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학교에서 배울 권리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자유롭게 말할 권리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차별받지 않을 권리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공정하게 재판받을 권리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→ 모두 헌법으로 보장된 "기본권"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📜 인권의 발전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3세대 인권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1세대 시민·정치적 권리 — 자유권 (18C 시민혁명)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2세대 경제·사회·문화적 권리 — 사회권 (20C 산업화)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3세대 연대·집단적 권리 — 평화권·환경권 (현대)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📚 헌법 5대 기본권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자유권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신체·언론·종교·재산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8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⚖️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평등권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8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차별받지 않을 권리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52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참정권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52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선거·공무담임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청구권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청원·재판·국가배상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50080" y="393192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50080" y="411480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0080" y="47091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사회권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0080" y="516636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교육·근로·환경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⚖️ 기본권 제한 4요건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헌법 제37조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① 목적의 정당성 — 국가안전·질서·공공복리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② 방법의 적정성 — 효과적·적합한 수단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③ 피해의 최소성 — 가장 덜 침해적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④ 법익의 균형성 — 얻는 이익 ≥ 침해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/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⚠️ 본질적 내용은 절대 침해 금지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BBF24"/>
                </a:solidFill>
                <a:latin typeface="Malgun Gothic"/>
              </a:rPr>
              <a:t>🆘 인권 침해 구제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algun Gothic"/>
              </a:rPr>
              <a:t>5가지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📜 국가인권위원회 진정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⚖️ 법원 재판 청구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🏛 헌법재판소 헌법소원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🚓 국민권익위원회 행정심판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🤝 국제기구 (UN 인권이사회)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C2D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algun Gothic"/>
              </a:rPr>
              <a:t>🛠 단원 웹교구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⚖️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인권 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실제 사건 판결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008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008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8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헌법 빙고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008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5x5 게임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51520" y="1828800"/>
            <a:ext cx="36271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1520" y="2011680"/>
            <a:ext cx="362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0">
                <a:latin typeface="Malgun Gothic"/>
              </a:rPr>
              <a:t>⚖️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1520" y="26060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Malgun Gothic"/>
              </a:rPr>
              <a:t>4요건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1520" y="3063240"/>
            <a:ext cx="362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1E293B"/>
                </a:solidFill>
                <a:latin typeface="Malgun Gothic"/>
              </a:rPr>
              <a:t>제한 시뮬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581C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algun Gothic"/>
              </a:rPr>
              <a:t>🎯 오늘의 핵심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인권 = 천부적·보편적·불가침적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5대 기본권: 자유·평등·참정·청구·사회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제한은 4요건 충족 시에만 가능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본질적 내용은 절대 침해 X</a:t>
            </a:r>
          </a:p>
          <a:p>
            <a:pPr algn="l"/>
            <a:r>
              <a:rPr sz="2200" b="0">
                <a:solidFill>
                  <a:srgbClr val="FFFFFF"/>
                </a:solidFill>
                <a:latin typeface="Malgun Gothic"/>
              </a:rPr>
              <a:t>✅ 구제 절차 다양, 적극 활용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212080"/>
            <a:ext cx="9601200" cy="11887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5349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2D12"/>
                </a:solidFill>
                <a:latin typeface="Malgun Gothic"/>
              </a:rPr>
              <a:t>📌 다음 차시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571500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7단원 사회 정의와 불평등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